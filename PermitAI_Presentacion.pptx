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0" y="0"/>
            <a:ext cx="5577840" cy="6858000"/>
          </a:xfrm>
          <a:prstGeom prst="rect">
            <a:avLst/>
          </a:prstGeom>
          <a:solidFill>
            <a:srgbClr val="0F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C9A84C"/>
                </a:solidFill>
                <a:latin typeface="Calibri"/>
              </a:rPr>
              <a:t>Permit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5486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920240" cy="292608"/>
          </a:xfrm>
          <a:prstGeom prst="rect">
            <a:avLst/>
          </a:prstGeom>
          <a:solidFill>
            <a:srgbClr val="1E2533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0817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◆  IA PARA OPERACIONES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Acceso a campo,</a:t>
            </a:r>
          </a:p>
          <a:p>
            <a:pPr algn="l">
              <a:spcBef>
                <a:spcPts val="200"/>
              </a:spcBef>
            </a:pPr>
            <a:r>
              <a:rPr sz="3600" b="1" i="0">
                <a:solidFill>
                  <a:srgbClr val="E2C97E"/>
                </a:solidFill>
                <a:latin typeface="Calibri"/>
              </a:rPr>
              <a:t>validado en segundos.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5A8"/>
                </a:solidFill>
                <a:latin typeface="Calibri"/>
              </a:rPr>
              <a:t>PermitAI automatiza la verificación de documentos de ingreso
mediante IA generativa — eliminando horas de revisión manual
y errores humanos costosos.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09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Calibri"/>
              </a:rP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2180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Reducción en
tiempo de verificación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4754880"/>
            <a:ext cx="18288" cy="822960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4709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Calibri"/>
              </a:rPr>
              <a:t>~4s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532180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Por expediente
completo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4754880"/>
            <a:ext cx="18288" cy="822960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4709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Calibri"/>
              </a:rPr>
              <a:t>24/7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32180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Disponibilidad
operativa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640080"/>
            <a:ext cx="5029200" cy="5852160"/>
          </a:xfrm>
          <a:prstGeom prst="rect">
            <a:avLst/>
          </a:prstGeom>
          <a:solidFill>
            <a:srgbClr val="161B24"/>
          </a:solidFill>
          <a:ln w="1270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49440" y="86868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50608" y="86868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51776" y="86868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8046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5A8"/>
                </a:solidFill>
                <a:latin typeface="Calibri"/>
              </a:rPr>
              <a:t>Resultado del análisis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1234440"/>
            <a:ext cx="4663440" cy="685800"/>
          </a:xfrm>
          <a:prstGeom prst="rect">
            <a:avLst/>
          </a:prstGeom>
          <a:solidFill>
            <a:srgbClr val="0D2A1A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12984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95A8"/>
                </a:solidFill>
                <a:latin typeface="Calibri"/>
              </a:rPr>
              <a:t>VEREDICTO FINAL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APROBADO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22C55E"/>
                </a:solidFill>
                <a:latin typeface="Calibri"/>
              </a:rPr>
              <a:t>✓ Confianza alta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2057400"/>
            <a:ext cx="4663440" cy="530352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18541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21854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5A8"/>
                </a:solidFill>
                <a:latin typeface="Calibri"/>
              </a:rPr>
              <a:t>Hoja de vida con experiencia certificada en Lote 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2660904"/>
            <a:ext cx="4663440" cy="530352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278892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5A8"/>
                </a:solidFill>
                <a:latin typeface="Calibri"/>
              </a:rPr>
              <a:t>Examen médico vigente — Emitido hace 12 días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3720" y="3264408"/>
            <a:ext cx="4663440" cy="530352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339242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3924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5A8"/>
                </a:solidFill>
                <a:latin typeface="Calibri"/>
              </a:rPr>
              <a:t>SCTR en vigencia — Cobertura hasta Dic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3867912"/>
            <a:ext cx="4663440" cy="530352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399592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96912" y="39959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Póliza de seguro de vida — No encontrada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4471416"/>
            <a:ext cx="4663440" cy="530352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459943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96912" y="4599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5A8"/>
                </a:solidFill>
                <a:latin typeface="Calibri"/>
              </a:rPr>
              <a:t>Curso de seguridad minera vigente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5166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3347"/>
                </a:solidFill>
                <a:latin typeface="Calibri"/>
              </a:rPr>
              <a:t>Procesado por GPT-4.1  ·  14 archivos  ·  3.2s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A3347"/>
                </a:solidFill>
                <a:latin typeface="Calibri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920240" cy="292608"/>
          </a:xfrm>
          <a:prstGeom prst="rect">
            <a:avLst/>
          </a:prstGeom>
          <a:solidFill>
            <a:srgbClr val="1E2533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394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◆  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La revisión manual es un cuello</a:t>
            </a:r>
          </a:p>
          <a:p>
            <a:pPr algn="l">
              <a:spcBef>
                <a:spcPts val="20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de botella que cuesta</a:t>
            </a:r>
          </a:p>
          <a:p>
            <a:pPr algn="l">
              <a:spcBef>
                <a:spcPts val="200"/>
              </a:spcBef>
            </a:pPr>
            <a:r>
              <a:rPr sz="3200" b="1" i="0">
                <a:solidFill>
                  <a:srgbClr val="C9A84C"/>
                </a:solidFill>
                <a:latin typeface="Calibri"/>
              </a:rPr>
              <a:t>vidas y dinero.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803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5A8"/>
                </a:solidFill>
                <a:latin typeface="Calibri"/>
              </a:rPr>
              <a:t>En operaciones extractivas, el acceso de personal no calificado
o con documentación vencida representa el mayor riesgo operacional.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611880"/>
            <a:ext cx="5303520" cy="822960"/>
          </a:xfrm>
          <a:prstGeom prst="rect">
            <a:avLst/>
          </a:prstGeom>
          <a:solidFill>
            <a:srgbClr val="140A0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7647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Horas de revisión por expediente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1421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Un revisor tarda entre 45 y 90 minutos por persona verificando PDFs, correos y adjuntos dispersos.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72000"/>
            <a:ext cx="5303520" cy="822960"/>
          </a:xfrm>
          <a:prstGeom prst="rect">
            <a:avLst/>
          </a:prstGeom>
          <a:solidFill>
            <a:srgbClr val="140A0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73659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63440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Errores humanos por volumen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7433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Con alta carga de solicitudes, documentos vencidos pasan inadvertidos — generando incidentes y multas.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32120"/>
            <a:ext cx="5303520" cy="822960"/>
          </a:xfrm>
          <a:prstGeom prst="rect">
            <a:avLst/>
          </a:prstGeom>
          <a:solidFill>
            <a:srgbClr val="140A0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69671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23560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Información dispersa en correos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93445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Archivos llegan en correos con múltiples adjuntos, ZIPs, formatos heterogéneos — sin estandarización.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822960"/>
            <a:ext cx="5303520" cy="2926080"/>
          </a:xfrm>
          <a:prstGeom prst="rect">
            <a:avLst/>
          </a:prstGeom>
          <a:solidFill>
            <a:srgbClr val="161B24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051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95A8"/>
                </a:solidFill>
                <a:latin typeface="Calibri"/>
              </a:rPr>
              <a:t>COSTO ESTIMADO MENSUAL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3258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F4444"/>
                </a:solidFill>
                <a:latin typeface="Calibri"/>
              </a:rPr>
              <a:t>$8,400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5A8"/>
                </a:solidFill>
                <a:latin typeface="Calibri"/>
              </a:rPr>
              <a:t>en horas-hombre de revisión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974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5A8"/>
                </a:solidFill>
                <a:latin typeface="Calibri"/>
              </a:rPr>
              <a:t>Estimado sobre 4 revisores a tiempo parcial procesando
300 solicitudes/mes a 45 min promedio por expediente.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931920"/>
            <a:ext cx="5303520" cy="1371600"/>
          </a:xfrm>
          <a:prstGeom prst="rect">
            <a:avLst/>
          </a:prstGeom>
          <a:solidFill>
            <a:srgbClr val="1E2533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0690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"El mayor riesgo en operaciones de campo no es el peligro
físico — es el personal que no debería haber ingresado."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983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5A8"/>
                </a:solidFill>
                <a:latin typeface="Calibri"/>
              </a:rPr>
              <a:t>— Gerente de Seguridad, operación minera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A3347"/>
                </a:solidFill>
                <a:latin typeface="Calibri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920240" cy="292608"/>
          </a:xfrm>
          <a:prstGeom prst="rect">
            <a:avLst/>
          </a:prstGeom>
          <a:solidFill>
            <a:srgbClr val="1E2533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394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◆  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A84C"/>
                </a:solidFill>
                <a:latin typeface="Calibri"/>
              </a:rPr>
              <a:t>PermitAI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 — el copiloto de</a:t>
            </a:r>
          </a:p>
          <a:p>
            <a:pPr algn="l">
              <a:spcBef>
                <a:spcPts val="20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verificación de acceso.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146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A95A8"/>
                </a:solidFill>
                <a:latin typeface="Calibri"/>
              </a:rPr>
              <a:t>Una plataforma web que recibe expedientes completos, los procesa con IA de última
generación y entrega un veredicto estructurado en segundos.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00400"/>
            <a:ext cx="3749039" cy="14630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58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IA de vanguardia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788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Powered by GPT-4.1 con 1M tokens de contexto — procesa expedientes completos en una sola llamada.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3749039" cy="14630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337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858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Cualquier formato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1788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PDF, Word, Excel, imágenes, correos .eml, RAR y ZIP. Extrae, convierte y analiza todo automáticamente.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200400"/>
            <a:ext cx="3749039" cy="14630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337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858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Checklist inteligente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1788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Valida cada documento contra requisitos configurables por tipo de caso: personal, conductor o vehículo.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3749039" cy="14630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58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Resultados auditables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790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Cada análisis queda registrado con veredicto, evidencia y justificación — trazabilidad para auditorías.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800600"/>
            <a:ext cx="3749039" cy="14630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937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458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100% configurable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7790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Checklists, prompts de IA, usuarios y roles administrables sin necesidad de desarrollo adicional.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800600"/>
            <a:ext cx="3749039" cy="14630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937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458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Seguro y privado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7790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JWT, bcrypt, API keys encriptadas, roles diferenciados. Cero documentos almacenados en el servidor.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A3347"/>
                </a:solidFill>
                <a:latin typeface="Calibri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920240" cy="292608"/>
          </a:xfrm>
          <a:prstGeom prst="rect">
            <a:avLst/>
          </a:prstGeom>
          <a:solidFill>
            <a:srgbClr val="1E2533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394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◆  CÓMO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Del correo al veredicto</a:t>
            </a:r>
          </a:p>
          <a:p>
            <a:pPr algn="ctr">
              <a:spcBef>
                <a:spcPts val="200"/>
              </a:spcBef>
            </a:pPr>
            <a:r>
              <a:rPr sz="3200" b="1" i="0">
                <a:solidFill>
                  <a:srgbClr val="C9A84C"/>
                </a:solidFill>
                <a:latin typeface="Calibri"/>
              </a:rPr>
              <a:t> en 5 pasos automáticos.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468880"/>
            <a:ext cx="822960" cy="8229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9631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C1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57860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429000"/>
            <a:ext cx="2103120" cy="21488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Recepción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5A8"/>
                </a:solidFill>
                <a:latin typeface="Calibri"/>
              </a:rPr>
              <a:t>El revisor arrastra el correo o archivos — cualquier formato aceptado.</a:t>
            </a:r>
          </a:p>
        </p:txBody>
      </p:sp>
      <p:sp>
        <p:nvSpPr>
          <p:cNvPr id="12" name="Oval 11"/>
          <p:cNvSpPr/>
          <p:nvPr/>
        </p:nvSpPr>
        <p:spPr>
          <a:xfrm>
            <a:off x="3291840" y="2468880"/>
            <a:ext cx="822960" cy="8229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49631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C10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7860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3429000"/>
            <a:ext cx="2103120" cy="21488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Extracción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977639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5A8"/>
                </a:solidFill>
                <a:latin typeface="Calibri"/>
              </a:rPr>
              <a:t>Descomprime ZIPs/RARs, parsea el correo y extrae adjuntos automáticamente.</a:t>
            </a:r>
          </a:p>
        </p:txBody>
      </p:sp>
      <p:sp>
        <p:nvSpPr>
          <p:cNvPr id="18" name="Oval 17"/>
          <p:cNvSpPr/>
          <p:nvPr/>
        </p:nvSpPr>
        <p:spPr>
          <a:xfrm>
            <a:off x="5623560" y="2468880"/>
            <a:ext cx="822960" cy="8229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249631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C10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57860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429000"/>
            <a:ext cx="2103120" cy="21488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Análisis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977639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5A8"/>
                </a:solidFill>
                <a:latin typeface="Calibri"/>
              </a:rPr>
              <a:t>GPT-4.1 recibe todos los docs y el checklist en una sola llamada.</a:t>
            </a:r>
          </a:p>
        </p:txBody>
      </p:sp>
      <p:sp>
        <p:nvSpPr>
          <p:cNvPr id="24" name="Oval 23"/>
          <p:cNvSpPr/>
          <p:nvPr/>
        </p:nvSpPr>
        <p:spPr>
          <a:xfrm>
            <a:off x="7955280" y="2468880"/>
            <a:ext cx="822960" cy="8229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249631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C10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57860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3429000"/>
            <a:ext cx="2103120" cy="21488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Veredicto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977639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5A8"/>
                </a:solidFill>
                <a:latin typeface="Calibri"/>
              </a:rPr>
              <a:t>Emite APROBADO / RECHAZADO / PENDIENTE con justificación por ítem.</a:t>
            </a:r>
          </a:p>
        </p:txBody>
      </p:sp>
      <p:sp>
        <p:nvSpPr>
          <p:cNvPr id="30" name="Oval 29"/>
          <p:cNvSpPr/>
          <p:nvPr/>
        </p:nvSpPr>
        <p:spPr>
          <a:xfrm>
            <a:off x="10287000" y="2468880"/>
            <a:ext cx="822960" cy="8229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49631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C10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6920" y="3429000"/>
            <a:ext cx="2103120" cy="21488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Registro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977639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5A8"/>
                </a:solidFill>
                <a:latin typeface="Calibri"/>
              </a:rPr>
              <a:t>Resultado guardado con resumen ejecutivo y trazabilidad completa.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5715000" cy="91440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7607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5A8"/>
                </a:solidFill>
                <a:latin typeface="Calibri"/>
              </a:rPr>
              <a:t>FORMATOS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03504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A84C"/>
                </a:solidFill>
                <a:latin typeface="Calibri"/>
              </a:rPr>
              <a:t>PDF   DOCX   XLSX   JPG/PNG   EML   RAR   ZIP   7Z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5715000"/>
            <a:ext cx="5715000" cy="91440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57607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5A8"/>
                </a:solidFill>
                <a:latin typeface="Calibri"/>
              </a:rPr>
              <a:t>TIPOS DE CASO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603504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🧑 Personal No Conductor — 7 ítems
🚗 Personal Conductor — 8 ítems
🚛 Vehículos / Equipos — 8 ítems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72600" y="5715000"/>
            <a:ext cx="2468880" cy="91440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7607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Calibri"/>
              </a:rPr>
              <a:t>~4 segundos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610819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2C55E"/>
                </a:solidFill>
                <a:latin typeface="Calibri"/>
              </a:rPr>
              <a:t>por expediente completo
vs. 45–90 min manual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A3347"/>
                </a:solidFill>
                <a:latin typeface="Calibri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920240" cy="292608"/>
          </a:xfrm>
          <a:prstGeom prst="rect">
            <a:avLst/>
          </a:prstGeom>
          <a:solidFill>
            <a:srgbClr val="1E2533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394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◆  FUNCIONALIDADES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Todo lo que un equipo de operaciones</a:t>
            </a:r>
          </a:p>
          <a:p>
            <a:pPr algn="l">
              <a:spcBef>
                <a:spcPts val="200"/>
              </a:spcBef>
            </a:pPr>
            <a:r>
              <a:rPr sz="3000" b="1" i="0">
                <a:solidFill>
                  <a:srgbClr val="C9A84C"/>
                </a:solidFill>
                <a:latin typeface="Calibri"/>
              </a:rPr>
              <a:t>necesita — en un solo lugar.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68880"/>
            <a:ext cx="5669280" cy="128016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Upload drag-and-drop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175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5A8"/>
                </a:solidFill>
                <a:latin typeface="Calibri"/>
              </a:rPr>
              <a:t>Arrastra correos completos con todos sus adjuntos. La plataforma extrae y procesa todo — incluyendo archivos dentro de ZIPs y RARs.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468880"/>
            <a:ext cx="5669280" cy="128016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651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6517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Historial auditado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0175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5A8"/>
                </a:solidFill>
                <a:latin typeface="Calibri"/>
              </a:rPr>
              <a:t>Cada análisis queda registrado con fecha, usuario, resumen y resultados por ítem — accesible para supervisores y auditores.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86200"/>
            <a:ext cx="5669280" cy="128016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690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Gestión de usuarios y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34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5A8"/>
                </a:solidFill>
                <a:latin typeface="Calibri"/>
              </a:rPr>
              <a:t>Roles diferenciados (admin, supervisor, operador, viewer). El administrador gestiona usuarios sin intervención técnica.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886200"/>
            <a:ext cx="5669280" cy="128016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69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🎛️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0690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Prompts configurables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434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5A8"/>
                </a:solidFill>
                <a:latin typeface="Calibri"/>
              </a:rPr>
              <a:t>Los administradores editan las instrucciones que recibe la IA para cada tipo de caso — desde la interfaz web, sin código.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03520"/>
            <a:ext cx="5669280" cy="128016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86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4864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Interfaz adaptable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852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5A8"/>
                </a:solidFill>
                <a:latin typeface="Calibri"/>
              </a:rPr>
              <a:t>Modo oscuro / claro. Diseño responsive. Pensada para operadores que usan la plataforma todo el día sin fatiga visual.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5303520"/>
            <a:ext cx="5669280" cy="128016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486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54864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API Key propia o gestionada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852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5A8"/>
                </a:solidFill>
                <a:latin typeface="Calibri"/>
              </a:rPr>
              <a:t>El cliente puede usar su propia clave de OpenAI o contratar el modelo gestionado. Flexibilidad total de facturación.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A3347"/>
                </a:solidFill>
                <a:latin typeface="Calibri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920240" cy="292608"/>
          </a:xfrm>
          <a:prstGeom prst="rect">
            <a:avLst/>
          </a:prstGeom>
          <a:solidFill>
            <a:srgbClr val="1E2533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394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◆  RETORNO DE INVERSIÓN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Los números hablan</a:t>
            </a:r>
          </a:p>
          <a:p>
            <a:pPr algn="l">
              <a:spcBef>
                <a:spcPts val="200"/>
              </a:spcBef>
            </a:pPr>
            <a:r>
              <a:rPr sz="3200" b="1" i="0">
                <a:solidFill>
                  <a:srgbClr val="C9A84C"/>
                </a:solidFill>
                <a:latin typeface="Calibri"/>
              </a:rPr>
              <a:t>por sí solos.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23160"/>
            <a:ext cx="2651760" cy="14630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3840480"/>
            <a:ext cx="26517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  <a:latin typeface="Calibri"/>
              </a:rPr>
              <a:t>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101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5A8"/>
                </a:solidFill>
                <a:latin typeface="Calibri"/>
              </a:rPr>
              <a:t>Reducción en tiempo
de verificación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423160"/>
            <a:ext cx="2651760" cy="14630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3840480"/>
            <a:ext cx="26517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560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  <a:latin typeface="Calibri"/>
              </a:rPr>
              <a:t>300+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3101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5A8"/>
                </a:solidFill>
                <a:latin typeface="Calibri"/>
              </a:rPr>
              <a:t>Solicitudes procesadas
al mes sin esfuerzo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423160"/>
            <a:ext cx="2651760" cy="14630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840480"/>
            <a:ext cx="26517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560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  <a:latin typeface="Calibri"/>
              </a:rP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3101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5A8"/>
                </a:solidFill>
                <a:latin typeface="Calibri"/>
              </a:rPr>
              <a:t>Costo por error humano
de aprobación incorrecta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2423160"/>
            <a:ext cx="2651760" cy="14630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3840480"/>
            <a:ext cx="265176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560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  <a:latin typeface="Calibri"/>
              </a:rPr>
              <a:t>3.2s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3101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5A8"/>
                </a:solidFill>
                <a:latin typeface="Calibri"/>
              </a:rPr>
              <a:t>Tiempo promedio
de análisis completo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69080"/>
            <a:ext cx="2880360" cy="347472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23944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5A8"/>
                </a:solidFill>
                <a:latin typeface="Calibri"/>
              </a:rPr>
              <a:t>Criterio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4069080"/>
            <a:ext cx="2697480" cy="347472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12394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5A8"/>
                </a:solidFill>
                <a:latin typeface="Calibri"/>
              </a:rPr>
              <a:t>Proceso Manual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069080"/>
            <a:ext cx="2697480" cy="347472"/>
          </a:xfrm>
          <a:prstGeom prst="rect">
            <a:avLst/>
          </a:prstGeom>
          <a:solidFill>
            <a:srgbClr val="1A1505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12394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PermitAI 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453128"/>
            <a:ext cx="2880360" cy="329184"/>
          </a:xfrm>
          <a:prstGeom prst="rect">
            <a:avLst/>
          </a:prstGeom>
          <a:solidFill>
            <a:srgbClr val="16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507992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Tiempo por expediente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4453128"/>
            <a:ext cx="2697480" cy="329184"/>
          </a:xfrm>
          <a:prstGeom prst="rect">
            <a:avLst/>
          </a:prstGeom>
          <a:solidFill>
            <a:srgbClr val="16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4507992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  <a:latin typeface="Calibri"/>
              </a:rPr>
              <a:t>45–90 minutos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453128"/>
            <a:ext cx="2697480" cy="329184"/>
          </a:xfrm>
          <a:prstGeom prst="rect">
            <a:avLst/>
          </a:prstGeom>
          <a:solidFill>
            <a:srgbClr val="10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507992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~4 segundos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800600"/>
            <a:ext cx="2880360" cy="329184"/>
          </a:xfrm>
          <a:prstGeom prst="rect">
            <a:avLst/>
          </a:prstGeom>
          <a:solidFill>
            <a:srgbClr val="12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855464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Capacidad diaria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4800600"/>
            <a:ext cx="2697480" cy="329184"/>
          </a:xfrm>
          <a:prstGeom prst="rect">
            <a:avLst/>
          </a:prstGeom>
          <a:solidFill>
            <a:srgbClr val="12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4855464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  <a:latin typeface="Calibri"/>
              </a:rPr>
              <a:t>8–12 expedientes/revisor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4800600"/>
            <a:ext cx="2697480" cy="329184"/>
          </a:xfrm>
          <a:prstGeom prst="rect">
            <a:avLst/>
          </a:prstGeom>
          <a:solidFill>
            <a:srgbClr val="0C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4855464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Ilimitada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48072"/>
            <a:ext cx="2880360" cy="329184"/>
          </a:xfrm>
          <a:prstGeom prst="rect">
            <a:avLst/>
          </a:prstGeom>
          <a:solidFill>
            <a:srgbClr val="16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202936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Consistencia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60" y="5148072"/>
            <a:ext cx="2697480" cy="329184"/>
          </a:xfrm>
          <a:prstGeom prst="rect">
            <a:avLst/>
          </a:prstGeom>
          <a:solidFill>
            <a:srgbClr val="16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0" y="5202936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  <a:latin typeface="Calibri"/>
              </a:rPr>
              <a:t>Variable (fatiga)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5148072"/>
            <a:ext cx="2697480" cy="329184"/>
          </a:xfrm>
          <a:prstGeom prst="rect">
            <a:avLst/>
          </a:prstGeom>
          <a:solidFill>
            <a:srgbClr val="10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5202936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100% uniforme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495544"/>
            <a:ext cx="2880360" cy="329184"/>
          </a:xfrm>
          <a:prstGeom prst="rect">
            <a:avLst/>
          </a:prstGeom>
          <a:solidFill>
            <a:srgbClr val="12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550408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Trazabilidad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37560" y="5495544"/>
            <a:ext cx="2697480" cy="329184"/>
          </a:xfrm>
          <a:prstGeom prst="rect">
            <a:avLst/>
          </a:prstGeom>
          <a:solidFill>
            <a:srgbClr val="12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0" y="555040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  <a:latin typeface="Calibri"/>
              </a:rPr>
              <a:t>Parcial (planillas)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5495544"/>
            <a:ext cx="2697480" cy="329184"/>
          </a:xfrm>
          <a:prstGeom prst="rect">
            <a:avLst/>
          </a:prstGeom>
          <a:solidFill>
            <a:srgbClr val="0C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555040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Completa y auditable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843016"/>
            <a:ext cx="2880360" cy="329184"/>
          </a:xfrm>
          <a:prstGeom prst="rect">
            <a:avLst/>
          </a:prstGeom>
          <a:solidFill>
            <a:srgbClr val="16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897880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Disponibilidad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37560" y="5843016"/>
            <a:ext cx="2697480" cy="329184"/>
          </a:xfrm>
          <a:prstGeom prst="rect">
            <a:avLst/>
          </a:prstGeom>
          <a:solidFill>
            <a:srgbClr val="16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0" y="589788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  <a:latin typeface="Calibri"/>
              </a:rPr>
              <a:t>Horario laboral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5843016"/>
            <a:ext cx="2697480" cy="329184"/>
          </a:xfrm>
          <a:prstGeom prst="rect">
            <a:avLst/>
          </a:prstGeom>
          <a:solidFill>
            <a:srgbClr val="10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63640" y="589788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24/7/365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190488"/>
            <a:ext cx="2880360" cy="329184"/>
          </a:xfrm>
          <a:prstGeom prst="rect">
            <a:avLst/>
          </a:prstGeom>
          <a:solidFill>
            <a:srgbClr val="12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6245352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Costo por expediente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37560" y="6190488"/>
            <a:ext cx="2697480" cy="329184"/>
          </a:xfrm>
          <a:prstGeom prst="rect">
            <a:avLst/>
          </a:prstGeom>
          <a:solidFill>
            <a:srgbClr val="12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74720" y="6245352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  <a:latin typeface="Calibri"/>
              </a:rPr>
              <a:t>~$28 USD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6190488"/>
            <a:ext cx="2697480" cy="329184"/>
          </a:xfrm>
          <a:prstGeom prst="rect">
            <a:avLst/>
          </a:prstGeom>
          <a:solidFill>
            <a:srgbClr val="0C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6245352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&lt;$0.50 USD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A3347"/>
                </a:solidFill>
                <a:latin typeface="Calibri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920240" cy="292608"/>
          </a:xfrm>
          <a:prstGeom prst="rect">
            <a:avLst/>
          </a:prstGeom>
          <a:solidFill>
            <a:srgbClr val="1E2533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394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◆  MODELO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Planes diseñados para cada</a:t>
            </a:r>
          </a:p>
          <a:p>
            <a:pPr algn="ctr">
              <a:spcBef>
                <a:spcPts val="200"/>
              </a:spcBef>
            </a:pPr>
            <a:r>
              <a:rPr sz="3000" b="1" i="0">
                <a:solidFill>
                  <a:srgbClr val="C9A84C"/>
                </a:solidFill>
                <a:latin typeface="Calibri"/>
              </a:rPr>
              <a:t>escala de operación.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31720"/>
            <a:ext cx="3566160" cy="425196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5A8"/>
                </a:solidFill>
                <a:latin typeface="Calibri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07208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$490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472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5A8"/>
                </a:solidFill>
                <a:latin typeface="Calibri"/>
              </a:rPr>
              <a:t>/ 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5A8"/>
                </a:solidFill>
                <a:latin typeface="Calibri"/>
              </a:rPr>
              <a:t>Hasta 100 análisis/mes · 5 usuarios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3200400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422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4223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3 tipos de caso predefinidos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97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970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Historial de 90 días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371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371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Soporte por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846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846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Dashboard básico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API key propia del cliente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78808" y="2331720"/>
            <a:ext cx="3566160" cy="4251960"/>
          </a:xfrm>
          <a:prstGeom prst="rect">
            <a:avLst/>
          </a:prstGeom>
          <a:solidFill>
            <a:srgbClr val="161B24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38928" y="2130552"/>
            <a:ext cx="164592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21671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C10"/>
                </a:solidFill>
                <a:latin typeface="Calibri"/>
              </a:rPr>
              <a:t>MÁS POPULAR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5A8"/>
                </a:solidFill>
                <a:latin typeface="Calibri"/>
              </a:rPr>
              <a:t>PROFESSIONAL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2807208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Calibri"/>
              </a:rPr>
              <a:t>$1,200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34472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5A8"/>
                </a:solidFill>
                <a:latin typeface="Calibri"/>
              </a:rPr>
              <a:t>/ 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5A8"/>
                </a:solidFill>
                <a:latin typeface="Calibri"/>
              </a:rPr>
              <a:t>Análisis ilimitados · 20 usuarios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61688" y="4023360"/>
            <a:ext cx="3200400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41422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8" y="414223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Casos y checklists personalizados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44897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6008" y="448970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Historial ilimitado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48371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8" y="48371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Gestión de roles avanzada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8" y="51846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8" y="51846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Prompts configurables por 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1688" y="5532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6008" y="55321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Soporte prioritario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61688" y="58795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36008" y="587959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API key gestionada incluida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1688" y="62270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6008" y="622706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Onboarding personalizado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91856" y="2331720"/>
            <a:ext cx="3566160" cy="425196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74736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5A8"/>
                </a:solidFill>
                <a:latin typeface="Calibri"/>
              </a:rPr>
              <a:t>ENTERPRISE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74736" y="2807208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medida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4736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5A8"/>
                </a:solidFill>
                <a:latin typeface="Calibri"/>
              </a:rPr>
              <a:t>Multi-sitio · Usuarios ilimitados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74736" y="4023360"/>
            <a:ext cx="3200400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74736" y="41422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9056" y="414223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Deploy en infraestructura propia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74736" y="44897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49056" y="448970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Integración con sistemas existentes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74736" y="48371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9056" y="4837176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SLA garantizado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74736" y="51846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49056" y="51846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Modelo de IA privado (opcional)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74736" y="5532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49056" y="55321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Soporte 24/7 dedicado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74736" y="58795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49056" y="587959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Capacitación in-situ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95A8"/>
                </a:solidFill>
                <a:latin typeface="Calibri"/>
              </a:rPr>
              <a:t>Todos los planes incluyen 14 días de prueba gratuita  ·  Sin compromiso de permanencia  ·  Setup en 24 horas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A3347"/>
                </a:solidFill>
                <a:latin typeface="Calibri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920240" cy="292608"/>
          </a:xfrm>
          <a:prstGeom prst="rect">
            <a:avLst/>
          </a:prstGeom>
          <a:solidFill>
            <a:srgbClr val="1E2533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394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◆  TECNOLOGÍA &amp;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Construido sobre infraestructura</a:t>
            </a:r>
          </a:p>
          <a:p>
            <a:pPr algn="l">
              <a:spcBef>
                <a:spcPts val="200"/>
              </a:spcBef>
            </a:pPr>
            <a:r>
              <a:rPr sz="2800" b="1" i="0">
                <a:solidFill>
                  <a:srgbClr val="C9A84C"/>
                </a:solidFill>
                <a:latin typeface="Calibri"/>
              </a:rPr>
              <a:t>empresarial y segura.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1371600" cy="438912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2715768"/>
            <a:ext cx="128016" cy="128016"/>
          </a:xfrm>
          <a:prstGeom prst="ellipse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React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560320"/>
            <a:ext cx="1371600" cy="438912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65960" y="2715768"/>
            <a:ext cx="128016" cy="128016"/>
          </a:xfrm>
          <a:prstGeom prst="ellipse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2651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Node.js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560320"/>
            <a:ext cx="1371600" cy="438912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2715768"/>
            <a:ext cx="128016" cy="128016"/>
          </a:xfrm>
          <a:prstGeom prst="ellipse">
            <a:avLst/>
          </a:prstGeom>
          <a:solidFill>
            <a:srgbClr val="336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651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560320"/>
            <a:ext cx="1371600" cy="438912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040" y="2715768"/>
            <a:ext cx="128016" cy="128016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651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GPT-4.1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08960"/>
            <a:ext cx="1371600" cy="438912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3264408"/>
            <a:ext cx="128016" cy="128016"/>
          </a:xfrm>
          <a:prstGeom prst="ellipse">
            <a:avLst/>
          </a:prstGeom>
          <a:solidFill>
            <a:srgbClr val="E0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Express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108960"/>
            <a:ext cx="1371600" cy="438912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965960" y="3264408"/>
            <a:ext cx="128016" cy="128016"/>
          </a:xfrm>
          <a:prstGeom prst="ellipse">
            <a:avLst/>
          </a:prstGeom>
          <a:solidFill>
            <a:srgbClr val="FFD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32004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Vite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3108960"/>
            <a:ext cx="1371600" cy="438912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29000" y="3264408"/>
            <a:ext cx="128016" cy="128016"/>
          </a:xfrm>
          <a:prstGeom prst="ellipse">
            <a:avLst/>
          </a:prstGeom>
          <a:solidFill>
            <a:srgbClr val="FF6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32004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Render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108960"/>
            <a:ext cx="1371600" cy="438912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92040" y="3264408"/>
            <a:ext cx="128016" cy="128016"/>
          </a:xfrm>
          <a:prstGeom prst="ellipse">
            <a:avLst/>
          </a:prstGeom>
          <a:solidFill>
            <a:srgbClr val="C48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32004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Railway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749039"/>
            <a:ext cx="5989320" cy="14630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5A8"/>
                </a:solidFill>
                <a:latin typeface="Calibri"/>
              </a:rPr>
              <a:t>CAPACIDADES DE 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160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Ventana de contexto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1605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2C55E"/>
                </a:solidFill>
                <a:latin typeface="Calibri"/>
              </a:rPr>
              <a:t>1,000,000 tokens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4074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Visión de documentos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4074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2C55E"/>
                </a:solidFill>
                <a:latin typeface="Calibri"/>
              </a:rPr>
              <a:t>Incluida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6542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Salida estructurada 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65429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2C55E"/>
                </a:solidFill>
                <a:latin typeface="Calibri"/>
              </a:rPr>
              <a:t>Nativa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9011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5A8"/>
                </a:solidFill>
                <a:latin typeface="Calibri"/>
              </a:rPr>
              <a:t>Modelo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90118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2C55E"/>
                </a:solidFill>
                <a:latin typeface="Calibri"/>
              </a:rPr>
              <a:t>GPT-4.1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02920"/>
            <a:ext cx="1920240" cy="292608"/>
          </a:xfrm>
          <a:prstGeom prst="rect">
            <a:avLst/>
          </a:prstGeom>
          <a:solidFill>
            <a:srgbClr val="1E2533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5394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◆  SEGURIDAD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914400"/>
            <a:ext cx="2743200" cy="548640"/>
          </a:xfrm>
          <a:prstGeom prst="rect">
            <a:avLst/>
          </a:prstGeom>
          <a:solidFill>
            <a:srgbClr val="161B24"/>
          </a:solidFill>
          <a:ln w="63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104241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1152" y="106070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JWT con expiración configurable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914400"/>
            <a:ext cx="2743200" cy="548640"/>
          </a:xfrm>
          <a:prstGeom prst="rect">
            <a:avLst/>
          </a:prstGeom>
          <a:solidFill>
            <a:srgbClr val="161B24"/>
          </a:solidFill>
          <a:ln w="63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0" y="104241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11512" y="106070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Contraseñas hasheadas con bcrypt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1572768"/>
            <a:ext cx="2743200" cy="548640"/>
          </a:xfrm>
          <a:prstGeom prst="rect">
            <a:avLst/>
          </a:prstGeom>
          <a:solidFill>
            <a:srgbClr val="161B24"/>
          </a:solidFill>
          <a:ln w="63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170078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31152" y="17190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API keys encriptadas en DB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60" y="1572768"/>
            <a:ext cx="2743200" cy="548640"/>
          </a:xfrm>
          <a:prstGeom prst="rect">
            <a:avLst/>
          </a:prstGeom>
          <a:solidFill>
            <a:srgbClr val="161B24"/>
          </a:solidFill>
          <a:ln w="63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170078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11512" y="17190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Control de acceso por rol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231136"/>
            <a:ext cx="2743200" cy="548640"/>
          </a:xfrm>
          <a:prstGeom prst="rect">
            <a:avLst/>
          </a:prstGeom>
          <a:solidFill>
            <a:srgbClr val="161B24"/>
          </a:solidFill>
          <a:ln w="63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23591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31152" y="23774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HTTPS en todas las rutas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81160" y="2231136"/>
            <a:ext cx="2743200" cy="548640"/>
          </a:xfrm>
          <a:prstGeom prst="rect">
            <a:avLst/>
          </a:prstGeom>
          <a:solidFill>
            <a:srgbClr val="161B24"/>
          </a:solidFill>
          <a:ln w="63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20" y="23591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11512" y="23774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Auditoría de accesos completa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2889504"/>
            <a:ext cx="2743200" cy="548640"/>
          </a:xfrm>
          <a:prstGeom prst="rect">
            <a:avLst/>
          </a:prstGeom>
          <a:solidFill>
            <a:srgbClr val="161B24"/>
          </a:solidFill>
          <a:ln w="63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60" y="301752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31152" y="30358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Base de datos aislada por cliente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81160" y="2889504"/>
            <a:ext cx="2743200" cy="548640"/>
          </a:xfrm>
          <a:prstGeom prst="rect">
            <a:avLst/>
          </a:prstGeom>
          <a:solidFill>
            <a:srgbClr val="161B24"/>
          </a:solidFill>
          <a:ln w="63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20" y="301752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11512" y="30358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Deploy en nube privada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611880"/>
            <a:ext cx="5577840" cy="1188720"/>
          </a:xfrm>
          <a:prstGeom prst="rect">
            <a:avLst/>
          </a:prstGeom>
          <a:solidFill>
            <a:srgbClr val="1E2533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37490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"El sistema almacena cero documentos de los clientes —
solo los resultados del análisis. La privacidad es estructural."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A3347"/>
                </a:solidFill>
                <a:latin typeface="Calibri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5760720" cy="4572000"/>
          </a:xfrm>
          <a:prstGeom prst="ellipse">
            <a:avLst/>
          </a:prstGeom>
          <a:solidFill>
            <a:srgbClr val="1512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502920"/>
            <a:ext cx="1920240" cy="292608"/>
          </a:xfrm>
          <a:prstGeom prst="rect">
            <a:avLst/>
          </a:prstGeom>
          <a:solidFill>
            <a:srgbClr val="1E2533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15968" y="539496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◆  PRÓXIMO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¿Listo para transformar su proceso</a:t>
            </a:r>
          </a:p>
          <a:p>
            <a:pPr algn="ctr">
              <a:spcBef>
                <a:spcPts val="200"/>
              </a:spcBef>
            </a:pPr>
            <a:r>
              <a:rPr sz="3000" b="1" i="0">
                <a:solidFill>
                  <a:srgbClr val="E2C97E"/>
                </a:solidFill>
                <a:latin typeface="Calibri"/>
              </a:rPr>
              <a:t>de verificación de acceso?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06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5A8"/>
                </a:solidFill>
                <a:latin typeface="Calibri"/>
              </a:rPr>
              <a:t>Agende una demo de 30 minutos y vea PermitAI procesar expedientes reales
de su operación — sin compromisos y sin tarjeta de crédito.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3429000"/>
            <a:ext cx="6126480" cy="777240"/>
          </a:xfrm>
          <a:prstGeom prst="rect">
            <a:avLst/>
          </a:prstGeom>
          <a:solidFill>
            <a:srgbClr val="151205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3493008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95A8"/>
                </a:solidFill>
                <a:latin typeface="Calibri"/>
              </a:rPr>
              <a:t>OFERTA DE LANZAMIENTO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749039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30 días de prueba gratuita  ·  Sin tarjeta de crédito  ·  Setup en 24 horas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4343400"/>
            <a:ext cx="288036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4407408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C10"/>
                </a:solidFill>
                <a:latin typeface="Calibri"/>
              </a:rPr>
              <a:t>📅  Agendar Demo gratuita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4343400"/>
            <a:ext cx="2880360" cy="548640"/>
          </a:xfrm>
          <a:prstGeom prst="rect">
            <a:avLst/>
          </a:prstGeom>
          <a:solidFill>
            <a:srgbClr val="161B24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4407408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💬  Hablar con un especialista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120640"/>
            <a:ext cx="3383280" cy="10058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193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✉️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509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95A8"/>
                </a:solidFill>
                <a:latin typeface="Calibri"/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7044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contacto@permitai.com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5120640"/>
            <a:ext cx="3383280" cy="10058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5193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6509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95A8"/>
                </a:solidFill>
                <a:latin typeface="Calibri"/>
              </a:rPr>
              <a:t>WhatsApp Business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87044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+51 999 000 000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5120640"/>
            <a:ext cx="3383280" cy="1005840"/>
          </a:xfrm>
          <a:prstGeom prst="rect">
            <a:avLst/>
          </a:prstGeom>
          <a:solidFill>
            <a:srgbClr val="161B24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5193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565099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95A8"/>
                </a:solidFill>
                <a:latin typeface="Calibri"/>
              </a:rPr>
              <a:t>Web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587044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www.permitai.com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63367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C9A84C"/>
                </a:solidFill>
                <a:latin typeface="Calibri"/>
              </a:rPr>
              <a:t>Permit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633679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6583680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A3347"/>
                </a:solidFill>
                <a:latin typeface="Calibri"/>
              </a:rPr>
              <a:t>Verificación inteligente de acceso a campo  ·  Powered by GPT-4.1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A3347"/>
                </a:solidFill>
                <a:latin typeface="Calibri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